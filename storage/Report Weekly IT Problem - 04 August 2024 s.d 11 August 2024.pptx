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667500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presProps" Target="presProps.xml"/>
  <Relationship Id="rId9" Type="http://schemas.openxmlformats.org/officeDocument/2006/relationships/viewProps" Target="viewProps.xml"/>
  <Relationship Id="rId10" Type="http://schemas.openxmlformats.org/officeDocument/2006/relationships/tableStyles" Target="tableStyles.xml"/>
</Relationships>
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 algn="l" fontAlgn="base" marL="0" marR="0" indent="0" lvl="0">
              <a:defRPr/>
            </a:pPr>
            <a:r>
              <a:rPr lang="en-US" dirty="0" b="false" i="false" strike="noStrike" sz="1800" u="none">
                <a:solidFill>
                  <a:srgbClr val="000000">
                    <a:alpha val="100000"/>
                  </a:srgbClr>
                </a:solidFill>
                <a:latin typeface="Calibri"/>
              </a:rPr>
              <a:t>Ticket by Category</a:t>
            </a:r>
            <a:endParaRPr lang="en-US" dirty="0"/>
          </a:p>
        </c:rich>
      </c:tx>
      <c:layout>
        <c:manualLayout>
          <c:xMode val="edge"/>
          <c:yMode val="edge"/>
          <c:x val="0.01"/>
          <c:y val="0.01"/>
        </c:manualLayout>
      </c:layout>
      <c:overlay val="0"/>
    </c:title>
    <c:autoTitleDeleted val="0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barChart>
        <c:barDir val="col"/>
        <c:grouping val="clustered"/>
        <c:ser>
          <c:idx val="0"/>
          <c:order val="0"/>
          <c:tx>
            <c:v>Core System &amp; Surrounding Apps</c:v>
          </c:tx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</a:defRPr>
                </a:pPr>
                <a:endParaRPr lang="en-US" dirty="0"/>
              </a:p>
            </c:txPr>
            <c:dLblPos val="ctr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89a64e">
                <a:alpha val="100000"/>
              </a:srgbClr>
            </a:solidFill>
          </c:spPr>
          <c:cat>
            <c:strLit>
              <c:ptCount val="2"/>
              <c:pt idx="0">
                <c:v>Closed</c:v>
              </c:pt>
              <c:pt idx="1">
                <c:v>Pending</c:v>
              </c:pt>
            </c:strLit>
          </c:cat>
          <c:val>
            <c:numLit>
              <c:ptCount val="2"/>
              <c:pt idx="0">
                <c:v>17</c:v>
              </c:pt>
              <c:pt idx="1">
                <c:v>9</c:v>
              </c:pt>
            </c:numLit>
          </c:val>
        </c:ser>
        <c:ser>
          <c:idx val="1"/>
          <c:order val="1"/>
          <c:tx>
            <c:v>Ekosistem MPC</c:v>
          </c:tx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</a:defRPr>
                </a:pPr>
                <a:endParaRPr lang="en-US" dirty="0"/>
              </a:p>
            </c:txPr>
            <c:dLblPos val="ctr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93aacf">
                <a:alpha val="100000"/>
              </a:srgbClr>
            </a:solidFill>
          </c:spPr>
          <c:cat>
            <c:strLit>
              <c:ptCount val="2"/>
              <c:pt idx="0">
                <c:v>Closed</c:v>
              </c:pt>
              <c:pt idx="1">
                <c:v>Pending</c:v>
              </c:pt>
            </c:strLit>
          </c:cat>
          <c:val>
            <c:numLit>
              <c:ptCount val="2"/>
              <c:pt idx="0">
                <c:v>38</c:v>
              </c:pt>
              <c:pt idx="1">
                <c:v>11</c:v>
              </c:pt>
            </c:numLit>
          </c:val>
        </c:ser>
        <c:ser>
          <c:idx val="2"/>
          <c:order val="2"/>
          <c:tx>
            <c:v>Loan</c:v>
          </c:tx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</a:defRPr>
                </a:pPr>
                <a:endParaRPr lang="en-US" dirty="0"/>
              </a:p>
            </c:txPr>
            <c:dLblPos val="ctr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a6a6a6">
                <a:alpha val="100000"/>
              </a:srgbClr>
            </a:solidFill>
          </c:spPr>
          <c:cat>
            <c:strLit>
              <c:ptCount val="2"/>
              <c:pt idx="0">
                <c:v>Closed</c:v>
              </c:pt>
              <c:pt idx="1">
                <c:v>Pending</c:v>
              </c:pt>
            </c:strLit>
          </c:cat>
          <c:val>
            <c:numLit>
              <c:ptCount val="2"/>
              <c:pt idx="0">
                <c:v>33</c:v>
              </c:pt>
              <c:pt idx="1">
                <c:v>8</c:v>
              </c:pt>
            </c:numLit>
          </c:val>
        </c:ser>
        <c:ser>
          <c:idx val="3"/>
          <c:order val="3"/>
          <c:tx>
            <c:v>Onboarding</c:v>
          </c:tx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</a:defRPr>
                </a:pPr>
                <a:endParaRPr lang="en-US" dirty="0"/>
              </a:p>
            </c:txPr>
            <c:dLblPos val="ctr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f79646">
                <a:alpha val="100000"/>
              </a:srgbClr>
            </a:solidFill>
          </c:spPr>
          <c:cat>
            <c:strLit>
              <c:ptCount val="2"/>
              <c:pt idx="0">
                <c:v>Closed</c:v>
              </c:pt>
              <c:pt idx="1">
                <c:v>Pending</c:v>
              </c:pt>
            </c:strLit>
          </c:cat>
          <c:val>
            <c:numLit>
              <c:ptCount val="2"/>
              <c:pt idx="0">
                <c:v>43</c:v>
              </c:pt>
              <c:pt idx="1">
                <c:v>16</c:v>
              </c:pt>
            </c:numLit>
          </c:val>
        </c:ser>
        <c:ser>
          <c:idx val="4"/>
          <c:order val="4"/>
          <c:tx>
            <c:v>Online Payment</c:v>
          </c:tx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</a:defRPr>
                </a:pPr>
                <a:endParaRPr lang="en-US" dirty="0"/>
              </a:p>
            </c:txPr>
            <c:dLblPos val="ctr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4f81bd">
                <a:alpha val="100000"/>
              </a:srgbClr>
            </a:solidFill>
          </c:spPr>
          <c:cat>
            <c:strLit>
              <c:ptCount val="2"/>
              <c:pt idx="0">
                <c:v>Closed</c:v>
              </c:pt>
              <c:pt idx="1">
                <c:v>Pending</c:v>
              </c:pt>
            </c:strLit>
          </c:cat>
          <c:val>
            <c:numLit>
              <c:ptCount val="2"/>
              <c:pt idx="0">
                <c:v>54</c:v>
              </c:pt>
              <c:pt idx="1">
                <c:v>7</c:v>
              </c:pt>
            </c:numLit>
          </c:val>
        </c:ser>
        <c:ser>
          <c:idx val="5"/>
          <c:order val="5"/>
          <c:tx>
            <c:v>Third Party</c:v>
          </c:tx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</a:defRPr>
                </a:pPr>
                <a:endParaRPr lang="en-US" dirty="0"/>
              </a:p>
            </c:txPr>
            <c:dLblPos val="ctr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ee52e1">
                <a:alpha val="100000"/>
              </a:srgbClr>
            </a:solidFill>
          </c:spPr>
          <c:cat>
            <c:strLit>
              <c:ptCount val="2"/>
              <c:pt idx="0">
                <c:v>Closed</c:v>
              </c:pt>
              <c:pt idx="1">
                <c:v>Pending</c:v>
              </c:pt>
            </c:strLit>
          </c:cat>
          <c:val>
            <c:numLit>
              <c:ptCount val="2"/>
              <c:pt idx="0">
                <c:v>2</c:v>
              </c:pt>
              <c:pt idx="1">
                <c:v>0</c:v>
              </c:pt>
            </c:numLit>
          </c:val>
        </c:ser>
        <c:ser>
          <c:idx val="6"/>
          <c:order val="6"/>
          <c:tx>
            <c:v>Transaction</c:v>
          </c:tx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</a:defRPr>
                </a:pPr>
                <a:endParaRPr lang="en-US" dirty="0"/>
              </a:p>
            </c:txPr>
            <c:dLblPos val="ctr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ffc000">
                <a:alpha val="100000"/>
              </a:srgbClr>
            </a:solidFill>
          </c:spPr>
          <c:cat>
            <c:strLit>
              <c:ptCount val="2"/>
              <c:pt idx="0">
                <c:v>Closed</c:v>
              </c:pt>
              <c:pt idx="1">
                <c:v>Pending</c:v>
              </c:pt>
            </c:strLit>
          </c:cat>
          <c:val>
            <c:numLit>
              <c:ptCount val="2"/>
              <c:pt idx="0">
                <c:v>34</c:v>
              </c:pt>
              <c:pt idx="1">
                <c:v>4</c:v>
              </c:pt>
            </c:numLit>
          </c:val>
        </c:ser>
        <c:ser>
          <c:idx val="7"/>
          <c:order val="7"/>
          <c:tx>
            <c:v>Wholesale Banking</c:v>
          </c:tx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</a:defRPr>
                </a:pPr>
                <a:endParaRPr lang="en-US" dirty="0"/>
              </a:p>
            </c:txPr>
            <c:dLblPos val="ctr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8064a2">
                <a:alpha val="100000"/>
              </a:srgbClr>
            </a:solidFill>
          </c:spPr>
          <c:cat>
            <c:strLit>
              <c:ptCount val="2"/>
              <c:pt idx="0">
                <c:v>Closed</c:v>
              </c:pt>
              <c:pt idx="1">
                <c:v>Pending</c:v>
              </c:pt>
            </c:strLit>
          </c:cat>
          <c:val>
            <c:numLit>
              <c:ptCount val="2"/>
              <c:pt idx="0">
                <c:v>1</c:v>
              </c:pt>
              <c:pt idx="1">
                <c:v>1</c:v>
              </c:pt>
            </c:numLit>
          </c:val>
        </c:ser>
        <c:gapWidth val="150"/>
        <c:overlap val="0"/>
        <c:axId val="52743552"/>
        <c:axId val="52749440"/>
        <c:extLst/>
      </c:barChart>
      <c:catAx>
        <c:axId val="52743552"/>
        <c:scaling>
          <c:orientation val="minMax"/>
        </c:scaling>
        <c:delete val="0"/>
        <c:axPos val="b"/>
        <c:numFmt formatCode="" sourceLinked="1"/>
        <c:majorTickMark val="none"/>
        <c:minorTickMark val="none"/>
        <c:tickLblPos val="nextTo"/>
        <c:spPr>
          <a:ln w="12700">
            <a:noFill/>
          </a:ln>
        </c:spPr>
        <c:crossAx val="52749440"/>
        <c:crosses val="autoZero"/>
        <c:lblAlgn val="ctr"/>
        <c:lblOffset val="100"/>
      </c:catAx>
      <c:valAx>
        <c:axId val="52749440"/>
        <c:scaling>
          <c:orientation val="minMax"/>
        </c:scaling>
        <c:delete val="1"/>
        <c:axPos val="l"/>
        <c:numFmt formatCode="" sourceLinked="1"/>
        <c:majorTickMark val="none"/>
        <c:minorTickMark val="none"/>
        <c:tickLblPos val="nextTo"/>
        <c:spPr>
          <a:ln w="12700">
            <a:noFill/>
          </a:ln>
        </c:spPr>
        <c:crossAx val="52743552"/>
        <c:crosses val="autoZero"/>
        <c:crossBetween val="between"/>
      </c:valAx>
    </c:plotArea>
    <c:legend>
      <c:legendPos val="r"/>
      <c:layout>
        <c:manualLayout>
          <c:xMode val="edge"/>
          <c:yMode val="edge"/>
        </c:manualLayout>
      </c:layout>
      <c:overlay val="0"/>
      <c:spPr>
        <a:noFill/>
      </c:spPr>
      <c:txPr>
        <a:bodyPr/>
        <a:lstStyle/>
        <a:p>
          <a:pPr algn="l" fontAlgn="base" marL="0" marR="0" indent="0" lvl="0">
            <a:defRPr b="false" i="false" strike="noStrike" sz="1000" u="none">
              <a:solidFill>
                <a:srgbClr val="000000">
                  <a:alpha val="100000"/>
                </a:srgbClr>
              </a:solidFill>
              <a:latin typeface="Calibri"/>
            </a:defRPr>
          </a:pPr>
          <a:endParaRPr lang="en-US" dirty="0"/>
        </a:p>
      </c:txPr>
    </c:legend>
    <c:plotVisOnly val="1"/>
    <c:dispBlanksAs val="zero"/>
  </c:chart>
  <c:spPr>
    <a:noFill/>
    <a:ln w="12700" cap="flat" cmpd="sng" algn="ctr">
      <a:solidFill>
        <a:srgbClr val="000000">
          <a:alpha val="100000"/>
        </a:srgbClr>
      </a:solidFill>
      <a:prstDash val="solid"/>
      <a:round/>
      <a:headEnd type="none" w="med" len="med"/>
      <a:tailEnd type="none" w="med" len="med"/>
    </a:ln>
  </c:spPr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 algn="l" fontAlgn="base" marL="0" marR="0" indent="0" lvl="0">
              <a:defRPr/>
            </a:pPr>
            <a:r>
              <a:rPr lang="en-US" dirty="0" b="false" i="false" strike="noStrike" sz="1800" u="none">
                <a:solidFill>
                  <a:srgbClr val="000000">
                    <a:alpha val="100000"/>
                  </a:srgbClr>
                </a:solidFill>
                <a:latin typeface="Calibri"/>
              </a:rPr>
              <a:t>Ticket by Last 3 Weeks</a:t>
            </a:r>
            <a:endParaRPr lang="en-US" dirty="0"/>
          </a:p>
        </c:rich>
      </c:tx>
      <c:layout>
        <c:manualLayout>
          <c:xMode val="edge"/>
          <c:yMode val="edge"/>
          <c:x val="0.01"/>
          <c:y val="0.01"/>
        </c:manualLayout>
      </c:layout>
      <c:overlay val="0"/>
    </c:title>
    <c:autoTitleDeleted val="0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barChart>
        <c:barDir val="col"/>
        <c:grouping val="clustered"/>
        <c:ser>
          <c:idx val="0"/>
          <c:order val="0"/>
          <c:tx>
            <c:v>Closed</c:v>
          </c:tx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</a:defRPr>
                </a:pPr>
                <a:endParaRPr lang="en-US" dirty="0"/>
              </a:p>
            </c:txPr>
            <c:dLblPos val="ctr"/>
            <c:showVal val="1"/>
            <c:showCatName val="0"/>
            <c:showSerName val="0"/>
            <c:showPercent val="0"/>
            <c:separator/>
            <c:showLeaderLines val="1"/>
          </c:dLbls>
          <c:cat>
            <c:strLit>
              <c:ptCount val="3"/>
              <c:pt idx="0">
                <c:v>3 Weeks Ago</c:v>
              </c:pt>
              <c:pt idx="1">
                <c:v>2 Weeks Ago</c:v>
              </c:pt>
              <c:pt idx="2">
                <c:v>Last Weeks</c:v>
              </c:pt>
            </c:strLit>
          </c:cat>
          <c:val>
            <c:numLit>
              <c:ptCount val="3"/>
              <c:pt idx="0">
                <c:v>7</c:v>
              </c:pt>
              <c:pt idx="1">
                <c:v>8</c:v>
              </c:pt>
              <c:pt idx="2">
                <c:v>2</c:v>
              </c:pt>
            </c:numLit>
          </c:val>
        </c:ser>
        <c:ser>
          <c:idx val="1"/>
          <c:order val="1"/>
          <c:tx>
            <c:v>Pending</c:v>
          </c:tx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</a:defRPr>
                </a:pPr>
                <a:endParaRPr lang="en-US" dirty="0"/>
              </a:p>
            </c:txPr>
            <c:dLblPos val="ctr"/>
            <c:showVal val="1"/>
            <c:showCatName val="0"/>
            <c:showSerName val="0"/>
            <c:showPercent val="0"/>
            <c:separator/>
            <c:showLeaderLines val="1"/>
          </c:dLbls>
          <c:cat>
            <c:strLit>
              <c:ptCount val="3"/>
              <c:pt idx="0">
                <c:v>3 Weeks Ago</c:v>
              </c:pt>
              <c:pt idx="1">
                <c:v>2 Weeks Ago</c:v>
              </c:pt>
              <c:pt idx="2">
                <c:v>Last Weeks</c:v>
              </c:pt>
            </c:strLit>
          </c:cat>
          <c:val>
            <c:numLit>
              <c:ptCount val="3"/>
              <c:pt idx="0">
                <c:v>5</c:v>
              </c:pt>
              <c:pt idx="1">
                <c:v>0</c:v>
              </c:pt>
              <c:pt idx="2">
                <c:v>0</c:v>
              </c:pt>
            </c:numLit>
          </c:val>
        </c:ser>
        <c:gapWidth val="150"/>
        <c:overlap val="0"/>
        <c:axId val="52743552"/>
        <c:axId val="52749440"/>
        <c:extLst/>
      </c:barChart>
      <c:catAx>
        <c:axId val="52743552"/>
        <c:scaling>
          <c:orientation val="minMax"/>
        </c:scaling>
        <c:delete val="0"/>
        <c:axPos val="b"/>
        <c:numFmt formatCode="" sourceLinked="1"/>
        <c:majorTickMark val="none"/>
        <c:minorTickMark val="none"/>
        <c:tickLblPos val="nextTo"/>
        <c:spPr>
          <a:ln w="12700">
            <a:noFill/>
          </a:ln>
        </c:spPr>
        <c:crossAx val="52749440"/>
        <c:crosses val="autoZero"/>
        <c:lblAlgn val="ctr"/>
        <c:lblOffset val="100"/>
      </c:catAx>
      <c:valAx>
        <c:axId val="52749440"/>
        <c:scaling>
          <c:orientation val="minMax"/>
        </c:scaling>
        <c:delete val="1"/>
        <c:axPos val="l"/>
        <c:numFmt formatCode="" sourceLinked="1"/>
        <c:majorTickMark val="none"/>
        <c:minorTickMark val="none"/>
        <c:tickLblPos val="nextTo"/>
        <c:spPr>
          <a:ln w="12700">
            <a:noFill/>
          </a:ln>
        </c:spPr>
        <c:crossAx val="52743552"/>
        <c:crosses val="autoZero"/>
        <c:crossBetween val="between"/>
      </c:valAx>
    </c:plotArea>
    <c:legend>
      <c:legendPos val="r"/>
      <c:layout>
        <c:manualLayout>
          <c:xMode val="edge"/>
          <c:yMode val="edge"/>
        </c:manualLayout>
      </c:layout>
      <c:overlay val="0"/>
      <c:spPr>
        <a:noFill/>
      </c:spPr>
      <c:txPr>
        <a:bodyPr/>
        <a:lstStyle/>
        <a:p>
          <a:pPr algn="l" fontAlgn="base" marL="0" marR="0" indent="0" lvl="0">
            <a:defRPr b="false" i="false" strike="noStrike" sz="1000" u="none">
              <a:solidFill>
                <a:srgbClr val="000000">
                  <a:alpha val="100000"/>
                </a:srgbClr>
              </a:solidFill>
              <a:latin typeface="Calibri"/>
            </a:defRPr>
          </a:pPr>
          <a:endParaRPr lang="en-US" dirty="0"/>
        </a:p>
      </c:txPr>
    </c:legend>
    <c:plotVisOnly val="1"/>
    <c:dispBlanksAs val="zero"/>
  </c:chart>
  <c:spPr>
    <a:noFill/>
    <a:ln w="12700" cap="flat" cmpd="sng" algn="ctr">
      <a:solidFill>
        <a:srgbClr val="000000">
          <a:alpha val="100000"/>
        </a:srgbClr>
      </a:solidFill>
      <a:prstDash val="solid"/>
      <a:round/>
      <a:headEnd type="none" w="med" len="med"/>
      <a:tailEnd type="none" w="med" len="med"/>
    </a:ln>
  </c:spPr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 algn="l" fontAlgn="base" marL="0" marR="0" indent="0" lvl="0">
              <a:defRPr/>
            </a:pPr>
            <a:r>
              <a:rPr lang="en-US" dirty="0" b="false" i="false" strike="noStrike" sz="1800" u="none">
                <a:solidFill>
                  <a:srgbClr val="000000">
                    <a:alpha val="100000"/>
                  </a:srgbClr>
                </a:solidFill>
                <a:latin typeface="Calibri"/>
              </a:rPr>
              <a:t>Ticket Service Request Nasabah</a:t>
            </a:r>
            <a:endParaRPr lang="en-US" dirty="0"/>
          </a:p>
        </c:rich>
      </c:tx>
      <c:layout>
        <c:manualLayout>
          <c:xMode val="edge"/>
          <c:yMode val="edge"/>
          <c:x val="0.01"/>
          <c:y val="0.01"/>
        </c:manualLayout>
      </c:layout>
      <c:overlay val="0"/>
    </c:title>
    <c:autoTitleDeleted val="0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barChart>
        <c:barDir val="col"/>
        <c:grouping val="clustered"/>
        <c:ser>
          <c:idx val="0"/>
          <c:order val="0"/>
          <c:tx>
            <c:v>Keluhan</c:v>
          </c:tx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</a:defRPr>
                </a:pPr>
                <a:endParaRPr lang="en-US" dirty="0"/>
              </a:p>
            </c:txPr>
            <c:dLblPos val="ctr"/>
            <c:showVal val="1"/>
            <c:showCatName val="0"/>
            <c:showSerName val="0"/>
            <c:showPercent val="0"/>
            <c:separator/>
            <c:showLeaderLines val="1"/>
          </c:dLbls>
          <c:cat>
            <c:strLit>
              <c:ptCount val="2"/>
              <c:pt idx="0">
                <c:v>Total</c:v>
              </c:pt>
              <c:pt idx="1">
                <c:v>Closed</c:v>
              </c:pt>
            </c:strLit>
          </c:cat>
          <c:val>
            <c:numLit>
              <c:ptCount val="2"/>
              <c:pt idx="0">
                <c:v>19</c:v>
              </c:pt>
              <c:pt idx="1">
                <c:v>14</c:v>
              </c:pt>
            </c:numLit>
          </c:val>
        </c:ser>
        <c:ser>
          <c:idx val="1"/>
          <c:order val="1"/>
          <c:tx>
            <c:v>Keluhan, Non Transaksional</c:v>
          </c:tx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</a:defRPr>
                </a:pPr>
                <a:endParaRPr lang="en-US" dirty="0"/>
              </a:p>
            </c:txPr>
            <c:dLblPos val="ctr"/>
            <c:showVal val="1"/>
            <c:showCatName val="0"/>
            <c:showSerName val="0"/>
            <c:showPercent val="0"/>
            <c:separator/>
            <c:showLeaderLines val="1"/>
          </c:dLbls>
          <c:cat>
            <c:strLit>
              <c:ptCount val="2"/>
              <c:pt idx="0">
                <c:v>Total</c:v>
              </c:pt>
              <c:pt idx="1">
                <c:v>Closed</c:v>
              </c:pt>
            </c:strLit>
          </c:cat>
          <c:val>
            <c:numLit>
              <c:ptCount val="2"/>
              <c:pt idx="0">
                <c:v>2</c:v>
              </c:pt>
              <c:pt idx="1">
                <c:v>0</c:v>
              </c:pt>
            </c:numLit>
          </c:val>
        </c:ser>
        <c:ser>
          <c:idx val="2"/>
          <c:order val="2"/>
          <c:tx>
            <c:v>On Boarding - Upgrade</c:v>
          </c:tx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</a:defRPr>
                </a:pPr>
                <a:endParaRPr lang="en-US" dirty="0"/>
              </a:p>
            </c:txPr>
            <c:dLblPos val="ctr"/>
            <c:showVal val="1"/>
            <c:showCatName val="0"/>
            <c:showSerName val="0"/>
            <c:showPercent val="0"/>
            <c:separator/>
            <c:showLeaderLines val="1"/>
          </c:dLbls>
          <c:cat>
            <c:strLit>
              <c:ptCount val="2"/>
              <c:pt idx="0">
                <c:v>Total</c:v>
              </c:pt>
              <c:pt idx="1">
                <c:v>Closed</c:v>
              </c:pt>
            </c:strLit>
          </c:cat>
          <c:val>
            <c:numLit>
              <c:ptCount val="2"/>
              <c:pt idx="0">
                <c:v>6</c:v>
              </c:pt>
              <c:pt idx="1">
                <c:v>5</c:v>
              </c:pt>
            </c:numLit>
          </c:val>
        </c:ser>
        <c:ser>
          <c:idx val="3"/>
          <c:order val="3"/>
          <c:tx>
            <c:v>Perubahan/Perbaikan Data</c:v>
          </c:tx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</a:defRPr>
                </a:pPr>
                <a:endParaRPr lang="en-US" dirty="0"/>
              </a:p>
            </c:txPr>
            <c:dLblPos val="ctr"/>
            <c:showVal val="1"/>
            <c:showCatName val="0"/>
            <c:showSerName val="0"/>
            <c:showPercent val="0"/>
            <c:separator/>
            <c:showLeaderLines val="1"/>
          </c:dLbls>
          <c:cat>
            <c:strLit>
              <c:ptCount val="2"/>
              <c:pt idx="0">
                <c:v>Total</c:v>
              </c:pt>
              <c:pt idx="1">
                <c:v>Closed</c:v>
              </c:pt>
            </c:strLit>
          </c:cat>
          <c:val>
            <c:numLit>
              <c:ptCount val="2"/>
              <c:pt idx="0">
                <c:v>3</c:v>
              </c:pt>
              <c:pt idx="1">
                <c:v>3</c:v>
              </c:pt>
            </c:numLit>
          </c:val>
        </c:ser>
        <c:ser>
          <c:idx val="4"/>
          <c:order val="4"/>
          <c:tx>
            <c:v>Request</c:v>
          </c:tx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</a:defRPr>
                </a:pPr>
                <a:endParaRPr lang="en-US" dirty="0"/>
              </a:p>
            </c:txPr>
            <c:dLblPos val="ctr"/>
            <c:showVal val="1"/>
            <c:showCatName val="0"/>
            <c:showSerName val="0"/>
            <c:showPercent val="0"/>
            <c:separator/>
            <c:showLeaderLines val="1"/>
          </c:dLbls>
          <c:cat>
            <c:strLit>
              <c:ptCount val="2"/>
              <c:pt idx="0">
                <c:v>Total</c:v>
              </c:pt>
              <c:pt idx="1">
                <c:v>Closed</c:v>
              </c:pt>
            </c:strLit>
          </c:cat>
          <c:val>
            <c:numLit>
              <c:ptCount val="2"/>
              <c:pt idx="0">
                <c:v>13</c:v>
              </c:pt>
              <c:pt idx="1">
                <c:v>9</c:v>
              </c:pt>
            </c:numLit>
          </c:val>
        </c:ser>
        <c:gapWidth val="150"/>
        <c:overlap val="0"/>
        <c:axId val="52743552"/>
        <c:axId val="52749440"/>
        <c:extLst/>
      </c:barChart>
      <c:catAx>
        <c:axId val="52743552"/>
        <c:scaling>
          <c:orientation val="minMax"/>
        </c:scaling>
        <c:delete val="0"/>
        <c:axPos val="b"/>
        <c:numFmt formatCode="" sourceLinked="1"/>
        <c:majorTickMark val="none"/>
        <c:minorTickMark val="none"/>
        <c:tickLblPos val="nextTo"/>
        <c:spPr>
          <a:ln w="12700">
            <a:noFill/>
          </a:ln>
        </c:spPr>
        <c:crossAx val="52749440"/>
        <c:crosses val="autoZero"/>
        <c:lblAlgn val="ctr"/>
        <c:lblOffset val="100"/>
      </c:catAx>
      <c:valAx>
        <c:axId val="52749440"/>
        <c:scaling>
          <c:orientation val="minMax"/>
        </c:scaling>
        <c:delete val="1"/>
        <c:axPos val="l"/>
        <c:numFmt formatCode="" sourceLinked="1"/>
        <c:majorTickMark val="none"/>
        <c:minorTickMark val="none"/>
        <c:tickLblPos val="nextTo"/>
        <c:spPr>
          <a:ln w="12700">
            <a:noFill/>
          </a:ln>
        </c:spPr>
        <c:crossAx val="52743552"/>
        <c:crosses val="autoZero"/>
        <c:crossBetween val="between"/>
      </c:valAx>
    </c:plotArea>
    <c:legend>
      <c:legendPos val="r"/>
      <c:layout>
        <c:manualLayout>
          <c:xMode val="edge"/>
          <c:yMode val="edge"/>
        </c:manualLayout>
      </c:layout>
      <c:overlay val="0"/>
      <c:spPr>
        <a:noFill/>
      </c:spPr>
      <c:txPr>
        <a:bodyPr/>
        <a:lstStyle/>
        <a:p>
          <a:pPr algn="l" fontAlgn="base" marL="0" marR="0" indent="0" lvl="0">
            <a:defRPr b="false" i="false" strike="noStrike" sz="1000" u="none">
              <a:solidFill>
                <a:srgbClr val="000000">
                  <a:alpha val="100000"/>
                </a:srgbClr>
              </a:solidFill>
              <a:latin typeface="Calibri"/>
            </a:defRPr>
          </a:pPr>
          <a:endParaRPr lang="en-US" dirty="0"/>
        </a:p>
      </c:txPr>
    </c:legend>
    <c:plotVisOnly val="1"/>
    <c:dispBlanksAs val="zero"/>
  </c:chart>
  <c:spPr>
    <a:noFill/>
    <a:ln w="12700" cap="flat" cmpd="sng" algn="ctr">
      <a:solidFill>
        <a:srgbClr val="000000">
          <a:alpha val="100000"/>
        </a:srgbClr>
      </a:solidFill>
      <a:prstDash val="solid"/>
      <a:round/>
      <a:headEnd type="none" w="med" len="med"/>
      <a:tailEnd type="none" w="med" len="med"/>
    </a:ln>
  </c:spPr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 algn="l" fontAlgn="base" marL="0" marR="0" indent="0" lvl="0">
              <a:defRPr/>
            </a:pPr>
            <a:r>
              <a:rPr lang="en-US" dirty="0" b="false" i="false" strike="noStrike" sz="1800" u="none">
                <a:solidFill>
                  <a:srgbClr val="000000">
                    <a:alpha val="100000"/>
                  </a:srgbClr>
                </a:solidFill>
                <a:latin typeface="Calibri"/>
              </a:rPr>
              <a:t>Ticket Service Customer Care</a:t>
            </a:r>
            <a:endParaRPr lang="en-US" dirty="0"/>
          </a:p>
        </c:rich>
      </c:tx>
      <c:layout>
        <c:manualLayout>
          <c:xMode val="edge"/>
          <c:yMode val="edge"/>
          <c:x val="0.01"/>
          <c:y val="0.01"/>
        </c:manualLayout>
      </c:layout>
      <c:overlay val="0"/>
    </c:title>
    <c:autoTitleDeleted val="0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barChart>
        <c:barDir val="col"/>
        <c:grouping val="clustered"/>
        <c:ser>
          <c:idx val="0"/>
          <c:order val="0"/>
          <c:tx>
            <c:v>Penutupan Akun</c:v>
          </c:tx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</a:defRPr>
                </a:pPr>
                <a:endParaRPr lang="en-US" dirty="0"/>
              </a:p>
            </c:txPr>
            <c:dLblPos val="ctr"/>
            <c:showVal val="1"/>
            <c:showCatName val="0"/>
            <c:showSerName val="0"/>
            <c:showPercent val="0"/>
            <c:separator/>
            <c:showLeaderLines val="1"/>
          </c:dLbls>
          <c:cat>
            <c:strLit>
              <c:ptCount val="4"/>
              <c:pt idx="0">
                <c:v>Total</c:v>
              </c:pt>
              <c:pt idx="1">
                <c:v>Closed</c:v>
              </c:pt>
              <c:pt idx="2">
                <c:v>Declined</c:v>
              </c:pt>
              <c:pt idx="3">
                <c:v>Approval</c:v>
              </c:pt>
            </c:strLit>
          </c:cat>
          <c:val>
            <c:numLit>
              <c:ptCount val="4"/>
              <c:pt idx="0">
                <c:v>19</c:v>
              </c:pt>
              <c:pt idx="1">
                <c:v>17</c:v>
              </c:pt>
              <c:pt idx="2">
                <c:v>0</c:v>
              </c:pt>
              <c:pt idx="3">
                <c:v>2</c:v>
              </c:pt>
            </c:numLit>
          </c:val>
        </c:ser>
        <c:ser>
          <c:idx val="1"/>
          <c:order val="1"/>
          <c:tx>
            <c:v>Perubahan Data</c:v>
          </c:tx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</a:defRPr>
                </a:pPr>
                <a:endParaRPr lang="en-US" dirty="0"/>
              </a:p>
            </c:txPr>
            <c:dLblPos val="ctr"/>
            <c:showVal val="1"/>
            <c:showCatName val="0"/>
            <c:showSerName val="0"/>
            <c:showPercent val="0"/>
            <c:separator/>
            <c:showLeaderLines val="1"/>
          </c:dLbls>
          <c:cat>
            <c:strLit>
              <c:ptCount val="4"/>
              <c:pt idx="0">
                <c:v>Total</c:v>
              </c:pt>
              <c:pt idx="1">
                <c:v>Closed</c:v>
              </c:pt>
              <c:pt idx="2">
                <c:v>Declined</c:v>
              </c:pt>
              <c:pt idx="3">
                <c:v>Approval</c:v>
              </c:pt>
            </c:strLit>
          </c:cat>
          <c:val>
            <c:numLit>
              <c:ptCount val="4"/>
              <c:pt idx="0">
                <c:v>11</c:v>
              </c:pt>
              <c:pt idx="1">
                <c:v>7</c:v>
              </c:pt>
              <c:pt idx="2">
                <c:v>2</c:v>
              </c:pt>
              <c:pt idx="3">
                <c:v>2</c:v>
              </c:pt>
            </c:numLit>
          </c:val>
        </c:ser>
        <c:gapWidth val="150"/>
        <c:overlap val="0"/>
        <c:axId val="52743552"/>
        <c:axId val="52749440"/>
        <c:extLst/>
      </c:barChart>
      <c:catAx>
        <c:axId val="52743552"/>
        <c:scaling>
          <c:orientation val="minMax"/>
        </c:scaling>
        <c:delete val="0"/>
        <c:axPos val="b"/>
        <c:numFmt formatCode="" sourceLinked="1"/>
        <c:majorTickMark val="none"/>
        <c:minorTickMark val="none"/>
        <c:tickLblPos val="nextTo"/>
        <c:spPr>
          <a:ln w="12700">
            <a:noFill/>
          </a:ln>
        </c:spPr>
        <c:crossAx val="52749440"/>
        <c:crosses val="autoZero"/>
        <c:lblAlgn val="ctr"/>
        <c:lblOffset val="100"/>
      </c:catAx>
      <c:valAx>
        <c:axId val="52749440"/>
        <c:scaling>
          <c:orientation val="minMax"/>
        </c:scaling>
        <c:delete val="1"/>
        <c:axPos val="l"/>
        <c:numFmt formatCode="" sourceLinked="1"/>
        <c:majorTickMark val="none"/>
        <c:minorTickMark val="none"/>
        <c:tickLblPos val="nextTo"/>
        <c:spPr>
          <a:ln w="12700">
            <a:noFill/>
          </a:ln>
        </c:spPr>
        <c:crossAx val="52743552"/>
        <c:crosses val="autoZero"/>
        <c:crossBetween val="between"/>
      </c:valAx>
    </c:plotArea>
    <c:legend>
      <c:legendPos val="r"/>
      <c:layout>
        <c:manualLayout>
          <c:xMode val="edge"/>
          <c:yMode val="edge"/>
        </c:manualLayout>
      </c:layout>
      <c:overlay val="0"/>
      <c:spPr>
        <a:noFill/>
      </c:spPr>
      <c:txPr>
        <a:bodyPr/>
        <a:lstStyle/>
        <a:p>
          <a:pPr algn="l" fontAlgn="base" marL="0" marR="0" indent="0" lvl="0">
            <a:defRPr b="false" i="false" strike="noStrike" sz="1000" u="none">
              <a:solidFill>
                <a:srgbClr val="000000">
                  <a:alpha val="100000"/>
                </a:srgbClr>
              </a:solidFill>
              <a:latin typeface="Calibri"/>
            </a:defRPr>
          </a:pPr>
          <a:endParaRPr lang="en-US" dirty="0"/>
        </a:p>
      </c:txPr>
    </c:legend>
    <c:plotVisOnly val="1"/>
    <c:dispBlanksAs val="zero"/>
  </c:chart>
  <c:spPr>
    <a:noFill/>
    <a:ln w="12700" cap="flat" cmpd="sng" algn="ctr">
      <a:solidFill>
        <a:srgbClr val="000000">
          <a:alpha val="100000"/>
        </a:srgbClr>
      </a:solidFill>
      <a:prstDash val="solid"/>
      <a:round/>
      <a:headEnd type="none" w="med" len="med"/>
      <a:tailEnd type="none" w="med" len="med"/>
    </a:ln>
  </c:spPr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12557384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llobank1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3.png"/>
  <Relationship Id="rId3" Type="http://schemas.openxmlformats.org/officeDocument/2006/relationships/image" Target="../media/allobank4.png"/>
  <Relationship Id="rId4" Type="http://schemas.openxmlformats.org/officeDocument/2006/relationships/chart" Target="../charts/chart13.xml"/>
  <Relationship Id="rId5" Type="http://schemas.openxmlformats.org/officeDocument/2006/relationships/chart" Target="../charts/chart14.xml"/>
  <Relationship Id="rId6" Type="http://schemas.openxmlformats.org/officeDocument/2006/relationships/chart" Target="../charts/chart15.xml"/>
  <Relationship Id="rId7" Type="http://schemas.openxmlformats.org/officeDocument/2006/relationships/chart" Target="../charts/chart16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18.png"/>
  <Relationship Id="rId3" Type="http://schemas.openxmlformats.org/officeDocument/2006/relationships/image" Target="../media/allobank19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end22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476250" y="476250"/>
          <a:ext cx="12001500" cy="6572250"/>
          <a:chOff x="476250" y="476250"/>
          <a:chExt cx="12001500" cy="657225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476250"/>
            <a:ext cx="3333750" cy="714375"/>
          </a:xfrm>
          <a:prstGeom prst="rect">
            <a:avLst/>
          </a:prstGeom>
          <a:noFill/>
        </p:spPr>
      </p:pic>
      <p:sp>
        <p:nvSpPr>
          <p:cNvPr id="2" name=""/>
          <p:cNvSpPr txBox="1"/>
          <p:nvPr/>
        </p:nvSpPr>
        <p:spPr>
          <a:xfrm>
            <a:off x="476250" y="2857500"/>
            <a:ext cx="6667500" cy="4762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z="3200" spc="0" u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Report Weekly IT Problem]]></a:t>
            </a:r>
          </a:p>
        </p:txBody>
      </p:sp>
      <p:cxnSp>
        <p:nvCxnSpPr>
          <p:cNvPr id="3" name=""/>
          <p:cNvCxnSpPr/>
          <p:nvPr/>
        </p:nvCxnSpPr>
        <p:spPr>
          <a:xfrm>
            <a:off x="476250" y="3524250"/>
            <a:ext cx="10477500" cy="0"/>
          </a:xfrm>
          <a:prstGeom prst="line">
            <a:avLst/>
          </a:prstGeom>
          <a:ln w="25400" cap="flat" cmpd="sng" algn="ctr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"/>
          <p:cNvSpPr txBox="1"/>
          <p:nvPr/>
        </p:nvSpPr>
        <p:spPr>
          <a:xfrm>
            <a:off x="476250" y="3619500"/>
            <a:ext cx="10953750" cy="4762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z="2400" spc="0" u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Information Technology Infrastructure & Operations No ]]></a:t>
            </a:r>
            <a:r>
              <a:rPr lang="en-US" b="1" sz="2400" spc="0" u="none">
                <a:solidFill>
                  <a:srgbClr val="FF0000">
                    <a:alpha val="100000"/>
                  </a:srgbClr>
                </a:solidFill>
                <a:latin typeface="Calibri"/>
              </a:rPr>
              <a:t><![CDATA[002/ITIO-DOC/XI/2023]]></a:t>
            </a:r>
          </a:p>
        </p:txBody>
      </p:sp>
      <p:sp>
        <p:nvSpPr>
          <p:cNvPr id="5" name=""/>
          <p:cNvSpPr txBox="1"/>
          <p:nvPr/>
        </p:nvSpPr>
        <p:spPr>
          <a:xfrm>
            <a:off x="9334500" y="6096000"/>
            <a:ext cx="2667000" cy="4762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spc="0" u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PT Allo Bank Indonesia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476250" y="238125"/>
          <a:ext cx="10477500" cy="6381750"/>
          <a:chOff x="476250" y="238125"/>
          <a:chExt cx="10477500" cy="6381750"/>
        </a:xfrm>
      </p:grpSpPr>
      <p:sp>
        <p:nvSpPr>
          <p:cNvPr id="1" name=""/>
          <p:cNvSpPr txBox="1"/>
          <p:nvPr/>
        </p:nvSpPr>
        <p:spPr>
          <a:xfrm>
            <a:off x="476250" y="238125"/>
            <a:ext cx="3810000" cy="4762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z="3000" spc="0" u="none">
                <a:solidFill>
                  <a:srgbClr val="FFA500">
                    <a:alpha val="100000"/>
                  </a:srgbClr>
                </a:solidFill>
                <a:latin typeface="Calibri"/>
              </a:rPr>
              <a:t><![CDATA[Document Control]]></a:t>
            </a:r>
          </a:p>
        </p:txBody>
      </p:sp>
      <p:graphicFrame>
        <p:nvGraphicFramePr>
          <p:cNvPr id="2" name="" descr=""/>
          <p:cNvGraphicFramePr>
            <a:graphicFrameLocks noGrp="1"/>
          </p:cNvGraphicFramePr>
          <p:nvPr/>
        </p:nvGraphicFramePr>
        <p:xfrm>
          <a:off x="476250" y="1143000"/>
          <a:ext cx="5715000" cy="0"/>
        </p:xfrm>
        <a:graphic>
          <a:graphicData uri="http://schemas.openxmlformats.org/drawingml/2006/table">
            <a:tbl>
              <a:tblPr firstRow="1" bandRow="1"/>
              <a:tblGrid>
                <a:gridCol w="2857500"/>
                <a:gridCol w="2857500"/>
              </a:tblGrid>
              <a:tr h="5715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9525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Division]]></a:t>
                      </a:r>
                    </a:p>
                  </a:txBody>
                  <a:tcPr anchor="ctr" marL="9525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9525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Information Technology Infrastructure & Operations]]></a:t>
                      </a:r>
                    </a:p>
                  </a:txBody>
                  <a:tcPr anchor="ctr" marL="9525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5715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9525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Title]]></a:t>
                      </a:r>
                    </a:p>
                  </a:txBody>
                  <a:tcPr anchor="ctr" marL="9525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9525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Report Weekly IT Problem]]></a:t>
                      </a:r>
                    </a:p>
                  </a:txBody>
                  <a:tcPr anchor="ctr" marL="9525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5715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9525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Version]]></a:t>
                      </a:r>
                    </a:p>
                  </a:txBody>
                  <a:tcPr anchor="ctr" marL="9525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9525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August 2024]]></a:t>
                      </a:r>
                    </a:p>
                  </a:txBody>
                  <a:tcPr anchor="ctr" marL="9525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5715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9525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Review date]]></a:t>
                      </a:r>
                    </a:p>
                  </a:txBody>
                  <a:tcPr anchor="ctr" marL="9525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9525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11 August 2024]]></a:t>
                      </a:r>
                    </a:p>
                  </a:txBody>
                  <a:tcPr anchor="ctr" marL="9525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"/>
          <p:cNvSpPr txBox="1"/>
          <p:nvPr/>
        </p:nvSpPr>
        <p:spPr>
          <a:xfrm>
            <a:off x="476250" y="4000500"/>
            <a:ext cx="2857500" cy="23812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spc="0" u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Jakarta, 11 August 2024
Disetujui oleh,
]]></a:t>
            </a:r>
            <a:r>
              <a:rPr lang="en-US" b="1" sz="1500" spc="0" u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Iswibowo Isakar
]]></a:t>
            </a:r>
            <a:r>
              <a:rPr lang="en-US" sz="1500" spc="0" u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Information Technology
Infrastructure & Operations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620000" y="4000500"/>
            <a:ext cx="2857500" cy="23812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spc="0" u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
Dibuat oleh,
]]></a:t>
            </a:r>
            <a:r>
              <a:rPr lang="en-US" b="1" sz="1500" spc="0" u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Tri Intan Siska Permatasari
]]></a:t>
            </a:r>
            <a:r>
              <a:rPr lang="en-US" sz="1500" spc="0" u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IT Problem Lead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86575"/>
          <a:chOff x="0" y="0"/>
          <a:chExt cx="12192000" cy="6886575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6575"/>
          </a:xfrm>
          <a:prstGeom prst="rect">
            <a:avLst/>
          </a:prstGeom>
          <a:noFill/>
        </p:spPr>
      </p:pic>
      <p:pic>
        <p:nvPicPr>
          <p:cNvPr id="2" name="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0" y="190500"/>
            <a:ext cx="1905000" cy="409575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238125" y="142875"/>
            <a:ext cx="3810000" cy="4762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z="3000" spc="0" u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Report IT Problem]]></a:t>
            </a:r>
          </a:p>
        </p:txBody>
      </p:sp>
      <p:sp>
        <p:nvSpPr>
          <p:cNvPr id="4" name=""/>
          <p:cNvSpPr txBox="1"/>
          <p:nvPr/>
        </p:nvSpPr>
        <p:spPr>
          <a:xfrm>
            <a:off x="238125" y="571500"/>
            <a:ext cx="3810000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spc="0" u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As of 04 August 2024 - 11 August 2024]]></a:t>
            </a:r>
          </a:p>
        </p:txBody>
      </p:sp>
      <p:graphicFrame>
        <p:nvGraphicFramePr>
          <p:cNvPr id="5" name="" descr=""/>
          <p:cNvGraphicFramePr>
            <a:graphicFrameLocks noGrp="1"/>
          </p:cNvGraphicFramePr>
          <p:nvPr/>
        </p:nvGraphicFramePr>
        <p:xfrm>
          <a:off x="238125" y="952500"/>
          <a:ext cx="1371600" cy="952500"/>
        </p:xfrm>
        <a:graphic>
          <a:graphicData uri="http://schemas.openxmlformats.org/drawingml/2006/table">
            <a:tbl>
              <a:tblPr firstRow="1" bandRow="1"/>
              <a:tblGrid>
                <a:gridCol w="457200"/>
                <a:gridCol w="457200"/>
                <a:gridCol w="457200"/>
              </a:tblGrid>
              <a:tr h="381000">
                <a:tc gridSpan="3"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z="12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9
Core System & Surr...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89a64e">
                        <a:alpha val="100000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1905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High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000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Med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DCFF0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Low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B050">
                        <a:alpha val="100000"/>
                      </a:srgbClr>
                    </a:solidFill>
                  </a:tcPr>
                </a:tc>
              </a:tr>
              <a:tr h="1905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7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89a64e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2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89a64e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89a64e">
                        <a:alpha val="100000"/>
                      </a:srgbClr>
                    </a:solidFill>
                  </a:tcPr>
                </a:tc>
              </a:tr>
              <a:tr h="1905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89a64e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89a64e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89a64e">
                        <a:alpha val="100000"/>
                      </a:srgbClr>
                    </a:solidFill>
                  </a:tcPr>
                </a:tc>
              </a:tr>
              <a:tr h="1905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89a64e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89a64e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89a64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" descr=""/>
          <p:cNvGraphicFramePr>
            <a:graphicFrameLocks noGrp="1"/>
          </p:cNvGraphicFramePr>
          <p:nvPr/>
        </p:nvGraphicFramePr>
        <p:xfrm>
          <a:off x="1714500" y="952500"/>
          <a:ext cx="1371600" cy="952500"/>
        </p:xfrm>
        <a:graphic>
          <a:graphicData uri="http://schemas.openxmlformats.org/drawingml/2006/table">
            <a:tbl>
              <a:tblPr firstRow="1" bandRow="1"/>
              <a:tblGrid>
                <a:gridCol w="457200"/>
                <a:gridCol w="457200"/>
                <a:gridCol w="457200"/>
              </a:tblGrid>
              <a:tr h="381000">
                <a:tc gridSpan="3"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z="12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11
Ekosistem MPC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93aacf">
                        <a:alpha val="100000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1905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High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000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Med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DCFF0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Low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B050">
                        <a:alpha val="100000"/>
                      </a:srgbClr>
                    </a:solidFill>
                  </a:tcPr>
                </a:tc>
              </a:tr>
              <a:tr h="1905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2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93aac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4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93aac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6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93aacf">
                        <a:alpha val="100000"/>
                      </a:srgbClr>
                    </a:solidFill>
                  </a:tcPr>
                </a:tc>
              </a:tr>
              <a:tr h="1905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93aac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93aac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93aacf">
                        <a:alpha val="100000"/>
                      </a:srgbClr>
                    </a:solidFill>
                  </a:tcPr>
                </a:tc>
              </a:tr>
              <a:tr h="1905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93aac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93aac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1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93aac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" descr=""/>
          <p:cNvGraphicFramePr>
            <a:graphicFrameLocks noGrp="1"/>
          </p:cNvGraphicFramePr>
          <p:nvPr/>
        </p:nvGraphicFramePr>
        <p:xfrm>
          <a:off x="3190875" y="952500"/>
          <a:ext cx="1371600" cy="952500"/>
        </p:xfrm>
        <a:graphic>
          <a:graphicData uri="http://schemas.openxmlformats.org/drawingml/2006/table">
            <a:tbl>
              <a:tblPr firstRow="1" bandRow="1"/>
              <a:tblGrid>
                <a:gridCol w="457200"/>
                <a:gridCol w="457200"/>
                <a:gridCol w="457200"/>
              </a:tblGrid>
              <a:tr h="381000">
                <a:tc gridSpan="3"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z="12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8
Loan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a6a6a6">
                        <a:alpha val="100000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1905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High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000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Med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DCFF0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Low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B050">
                        <a:alpha val="100000"/>
                      </a:srgbClr>
                    </a:solidFill>
                  </a:tcPr>
                </a:tc>
              </a:tr>
              <a:tr h="1905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3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2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4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a6a6a6">
                        <a:alpha val="100000"/>
                      </a:srgbClr>
                    </a:solidFill>
                  </a:tcPr>
                </a:tc>
              </a:tr>
              <a:tr h="1905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a6a6a6">
                        <a:alpha val="100000"/>
                      </a:srgbClr>
                    </a:solidFill>
                  </a:tcPr>
                </a:tc>
              </a:tr>
              <a:tr h="1905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1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a6a6a6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" descr=""/>
          <p:cNvGraphicFramePr>
            <a:graphicFrameLocks noGrp="1"/>
          </p:cNvGraphicFramePr>
          <p:nvPr/>
        </p:nvGraphicFramePr>
        <p:xfrm>
          <a:off x="4667250" y="952500"/>
          <a:ext cx="1371600" cy="952500"/>
        </p:xfrm>
        <a:graphic>
          <a:graphicData uri="http://schemas.openxmlformats.org/drawingml/2006/table">
            <a:tbl>
              <a:tblPr firstRow="1" bandRow="1"/>
              <a:tblGrid>
                <a:gridCol w="457200"/>
                <a:gridCol w="457200"/>
                <a:gridCol w="457200"/>
              </a:tblGrid>
              <a:tr h="381000">
                <a:tc gridSpan="3"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z="12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16
Onboarding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79646">
                        <a:alpha val="100000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1905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High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000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Med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DCFF0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Low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B050">
                        <a:alpha val="100000"/>
                      </a:srgbClr>
                    </a:solidFill>
                  </a:tcPr>
                </a:tc>
              </a:tr>
              <a:tr h="1905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12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7964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3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7964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1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79646">
                        <a:alpha val="100000"/>
                      </a:srgbClr>
                    </a:solidFill>
                  </a:tcPr>
                </a:tc>
              </a:tr>
              <a:tr h="1905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7964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7964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79646">
                        <a:alpha val="100000"/>
                      </a:srgbClr>
                    </a:solidFill>
                  </a:tcPr>
                </a:tc>
              </a:tr>
              <a:tr h="1905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7964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7964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79646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" descr=""/>
          <p:cNvGraphicFramePr>
            <a:graphicFrameLocks noGrp="1"/>
          </p:cNvGraphicFramePr>
          <p:nvPr/>
        </p:nvGraphicFramePr>
        <p:xfrm>
          <a:off x="6143625" y="952500"/>
          <a:ext cx="1371600" cy="952500"/>
        </p:xfrm>
        <a:graphic>
          <a:graphicData uri="http://schemas.openxmlformats.org/drawingml/2006/table">
            <a:tbl>
              <a:tblPr firstRow="1" bandRow="1"/>
              <a:tblGrid>
                <a:gridCol w="457200"/>
                <a:gridCol w="457200"/>
                <a:gridCol w="457200"/>
              </a:tblGrid>
              <a:tr h="381000">
                <a:tc gridSpan="3"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z="12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7
Online Payment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1905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High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000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Med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DCFF0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Low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B050">
                        <a:alpha val="100000"/>
                      </a:srgbClr>
                    </a:solidFill>
                  </a:tcPr>
                </a:tc>
              </a:tr>
              <a:tr h="1905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3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4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</a:tr>
              <a:tr h="1905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</a:tr>
              <a:tr h="1905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" descr=""/>
          <p:cNvGraphicFramePr>
            <a:graphicFrameLocks noGrp="1"/>
          </p:cNvGraphicFramePr>
          <p:nvPr/>
        </p:nvGraphicFramePr>
        <p:xfrm>
          <a:off x="7620000" y="952500"/>
          <a:ext cx="1371600" cy="952500"/>
        </p:xfrm>
        <a:graphic>
          <a:graphicData uri="http://schemas.openxmlformats.org/drawingml/2006/table">
            <a:tbl>
              <a:tblPr firstRow="1" bandRow="1"/>
              <a:tblGrid>
                <a:gridCol w="457200"/>
                <a:gridCol w="457200"/>
                <a:gridCol w="457200"/>
              </a:tblGrid>
              <a:tr h="381000">
                <a:tc gridSpan="3"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z="12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
Third Party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e52e1">
                        <a:alpha val="100000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1905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High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000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Med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DCFF0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Low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B050">
                        <a:alpha val="100000"/>
                      </a:srgbClr>
                    </a:solidFill>
                  </a:tcPr>
                </a:tc>
              </a:tr>
              <a:tr h="1905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e52e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e52e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e52e1">
                        <a:alpha val="100000"/>
                      </a:srgbClr>
                    </a:solidFill>
                  </a:tcPr>
                </a:tc>
              </a:tr>
              <a:tr h="1905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e52e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e52e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e52e1">
                        <a:alpha val="100000"/>
                      </a:srgbClr>
                    </a:solidFill>
                  </a:tcPr>
                </a:tc>
              </a:tr>
              <a:tr h="1905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e52e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e52e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e52e1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" descr=""/>
          <p:cNvGraphicFramePr>
            <a:graphicFrameLocks noGrp="1"/>
          </p:cNvGraphicFramePr>
          <p:nvPr/>
        </p:nvGraphicFramePr>
        <p:xfrm>
          <a:off x="9096375" y="952500"/>
          <a:ext cx="1371600" cy="952500"/>
        </p:xfrm>
        <a:graphic>
          <a:graphicData uri="http://schemas.openxmlformats.org/drawingml/2006/table">
            <a:tbl>
              <a:tblPr firstRow="1" bandRow="1"/>
              <a:tblGrid>
                <a:gridCol w="457200"/>
                <a:gridCol w="457200"/>
                <a:gridCol w="457200"/>
              </a:tblGrid>
              <a:tr h="381000">
                <a:tc gridSpan="3"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z="12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4
Transaction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c000">
                        <a:alpha val="100000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1905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High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000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Med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DCFF0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Low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B050">
                        <a:alpha val="100000"/>
                      </a:srgbClr>
                    </a:solidFill>
                  </a:tcPr>
                </a:tc>
              </a:tr>
              <a:tr h="1905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1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2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c000">
                        <a:alpha val="100000"/>
                      </a:srgbClr>
                    </a:solidFill>
                  </a:tcPr>
                </a:tc>
              </a:tr>
              <a:tr h="1905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1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c000">
                        <a:alpha val="100000"/>
                      </a:srgbClr>
                    </a:solidFill>
                  </a:tcPr>
                </a:tc>
              </a:tr>
              <a:tr h="1905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c000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" descr=""/>
          <p:cNvGraphicFramePr>
            <a:graphicFrameLocks noGrp="1"/>
          </p:cNvGraphicFramePr>
          <p:nvPr/>
        </p:nvGraphicFramePr>
        <p:xfrm>
          <a:off x="10572750" y="952500"/>
          <a:ext cx="1371600" cy="952500"/>
        </p:xfrm>
        <a:graphic>
          <a:graphicData uri="http://schemas.openxmlformats.org/drawingml/2006/table">
            <a:tbl>
              <a:tblPr firstRow="1" bandRow="1"/>
              <a:tblGrid>
                <a:gridCol w="457200"/>
                <a:gridCol w="457200"/>
                <a:gridCol w="457200"/>
              </a:tblGrid>
              <a:tr h="381000">
                <a:tc gridSpan="3"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z="12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1
Wholesale Banking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8064a2">
                        <a:alpha val="100000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1905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High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000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Med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DCFF0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Low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B050">
                        <a:alpha val="100000"/>
                      </a:srgbClr>
                    </a:solidFill>
                  </a:tcPr>
                </a:tc>
              </a:tr>
              <a:tr h="1905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8064a2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1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8064a2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8064a2">
                        <a:alpha val="100000"/>
                      </a:srgbClr>
                    </a:solidFill>
                  </a:tcPr>
                </a:tc>
              </a:tr>
              <a:tr h="1905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8064a2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8064a2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8064a2">
                        <a:alpha val="100000"/>
                      </a:srgbClr>
                    </a:solidFill>
                  </a:tcPr>
                </a:tc>
              </a:tr>
              <a:tr h="1905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8064a2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8064a2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8064a2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" descr=""/>
          <p:cNvGraphicFramePr/>
          <p:nvPr/>
        </p:nvGraphicFramePr>
        <p:xfrm>
          <a:off x="238125" y="2143125"/>
          <a:ext cx="3905250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" descr=""/>
          <p:cNvGraphicFramePr/>
          <p:nvPr/>
        </p:nvGraphicFramePr>
        <p:xfrm>
          <a:off x="4143375" y="2143125"/>
          <a:ext cx="3905250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5" name="" descr=""/>
          <p:cNvGraphicFramePr/>
          <p:nvPr/>
        </p:nvGraphicFramePr>
        <p:xfrm>
          <a:off x="8048625" y="2143125"/>
          <a:ext cx="3905250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6" name="" descr=""/>
          <p:cNvGraphicFramePr/>
          <p:nvPr/>
        </p:nvGraphicFramePr>
        <p:xfrm>
          <a:off x="8048625" y="4524375"/>
          <a:ext cx="3905250" cy="2000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7" name="" descr=""/>
          <p:cNvGraphicFramePr>
            <a:graphicFrameLocks noGrp="1"/>
          </p:cNvGraphicFramePr>
          <p:nvPr/>
        </p:nvGraphicFramePr>
        <p:xfrm>
          <a:off x="238125" y="4524375"/>
          <a:ext cx="7810500" cy="2000250"/>
        </p:xfrm>
        <a:graphic>
          <a:graphicData uri="http://schemas.openxmlformats.org/drawingml/2006/table">
            <a:tbl>
              <a:tblPr firstRow="1" bandRow="1"/>
              <a:tblGrid>
                <a:gridCol w="3905250"/>
                <a:gridCol w="3905250"/>
              </a:tblGrid>
              <a:tr h="238125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z="1000" spc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Problem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000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z="1000" spc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Status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0000">
                        <a:alpha val="100000"/>
                      </a:srgbClr>
                    </a:solidFill>
                  </a:tcPr>
                </a:tc>
              </a:tr>
              <a:tr h="238125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[Quick Access] Unable to use Quick Access due token expire and wrong pop-up message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Pending - 08 August 2024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6f610">
                        <a:alpha val="100000"/>
                      </a:srgbClr>
                    </a:solidFill>
                  </a:tcPr>
                </a:tc>
              </a:tr>
              <a:tr h="238125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[Paylater] User still get  under verification page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losed - 08 August 2024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14ca66">
                        <a:alpha val="100000"/>
                      </a:srgbClr>
                    </a:solidFill>
                  </a:tcPr>
                </a:tc>
              </a:tr>
              <a:tr h="238125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[Points] Redemption Code by Using M-Syariah Apps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93aac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losed - 08 August 2024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14ca66">
                        <a:alpha val="100000"/>
                      </a:srgbClr>
                    </a:solidFill>
                  </a:tcPr>
                </a:tc>
              </a:tr>
              <a:tr h="238125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86575"/>
          <a:chOff x="0" y="0"/>
          <a:chExt cx="12192000" cy="6886575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6575"/>
          </a:xfrm>
          <a:prstGeom prst="rect">
            <a:avLst/>
          </a:prstGeom>
          <a:noFill/>
        </p:spPr>
      </p:pic>
      <p:pic>
        <p:nvPicPr>
          <p:cNvPr id="2" name="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0" y="190500"/>
            <a:ext cx="1905000" cy="409575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238125" y="142875"/>
            <a:ext cx="7620000" cy="4762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z="3000" spc="0" u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All Ticket Pending - Priority High]]></a:t>
            </a:r>
          </a:p>
        </p:txBody>
      </p:sp>
      <p:sp>
        <p:nvSpPr>
          <p:cNvPr id="4" name=""/>
          <p:cNvSpPr txBox="1"/>
          <p:nvPr/>
        </p:nvSpPr>
        <p:spPr>
          <a:xfrm>
            <a:off x="238125" y="571500"/>
            <a:ext cx="3810000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spc="0" u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As of 04 August 2024 - 11 August 2024]]></a:t>
            </a:r>
          </a:p>
        </p:txBody>
      </p:sp>
      <p:graphicFrame>
        <p:nvGraphicFramePr>
          <p:cNvPr id="5" name="" descr=""/>
          <p:cNvGraphicFramePr>
            <a:graphicFrameLocks noGrp="1"/>
          </p:cNvGraphicFramePr>
          <p:nvPr/>
        </p:nvGraphicFramePr>
        <p:xfrm>
          <a:off x="238125" y="952500"/>
          <a:ext cx="5715000" cy="2857500"/>
        </p:xfrm>
        <a:graphic>
          <a:graphicData uri="http://schemas.openxmlformats.org/drawingml/2006/table">
            <a:tbl>
              <a:tblPr firstRow="1" bandRow="1"/>
              <a:tblGrid>
                <a:gridCol w="1143000"/>
                <a:gridCol w="3524250"/>
                <a:gridCol w="1047750"/>
              </a:tblGrid>
              <a:tr h="238125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z="1000" spc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Problem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000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z="1000" spc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Summary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000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z="1000" spc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Status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0000">
                        <a:alpha val="100000"/>
                      </a:srgbClr>
                    </a:solidFill>
                  </a:tcPr>
                </a:tc>
              </a:tr>
              <a:tr h="238125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ore System & Surrounding Apps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89a64e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Show App Version on Login & splash screen Page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89a64e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Pending
17/07/2024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89a64e">
                        <a:alpha val="100000"/>
                      </a:srgbClr>
                    </a:solidFill>
                  </a:tcPr>
                </a:tc>
              </a:tr>
              <a:tr h="238125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ore System & Surrounding Apps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89a64e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[Manual Face Check Dashboard] Liveness Video Showing Shorter Duration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89a64e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Pending
16/07/2024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89a64e">
                        <a:alpha val="100000"/>
                      </a:srgbClr>
                    </a:solidFill>
                  </a:tcPr>
                </a:tc>
              </a:tr>
              <a:tr h="238125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ore System & Surrounding Apps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89a64e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Bad Connection Indicator & Treatment for Allo App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89a64e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Pending
15/07/2024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89a64e">
                        <a:alpha val="100000"/>
                      </a:srgbClr>
                    </a:solidFill>
                  </a:tcPr>
                </a:tc>
              </a:tr>
              <a:tr h="238125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ore System & Surrounding Apps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89a64e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UI Under Maintenance in Allo Apps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89a64e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Pending
24/06/2024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89a64e">
                        <a:alpha val="100000"/>
                      </a:srgbClr>
                    </a:solidFill>
                  </a:tcPr>
                </a:tc>
              </a:tr>
              <a:tr h="238125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ore System & Surrounding Apps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89a64e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Pressing Back Button on Transfer Receipt does not return to homepage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89a64e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Pending
27/05/2024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89a64e">
                        <a:alpha val="100000"/>
                      </a:srgbClr>
                    </a:solidFill>
                  </a:tcPr>
                </a:tc>
              </a:tr>
              <a:tr h="238125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ore System & Surrounding Apps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89a64e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nhance Interest and Tax Information in Allo App Transaction History & CS Dashboard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89a64e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Pending
22/02/2024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89a64e">
                        <a:alpha val="100000"/>
                      </a:srgbClr>
                    </a:solidFill>
                  </a:tcPr>
                </a:tc>
              </a:tr>
              <a:tr h="238125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ore System & Surrounding Apps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89a64e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hanging the response code and message in the core for the Chinese language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89a64e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Pending
16/10/2023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89a64e">
                        <a:alpha val="100000"/>
                      </a:srgbClr>
                    </a:solidFill>
                  </a:tcPr>
                </a:tc>
              </a:tr>
              <a:tr h="238125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kosistem MPC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93aac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Status membership between user Allo and MPC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93aac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Pending
11/06/2024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93aacf">
                        <a:alpha val="100000"/>
                      </a:srgbClr>
                    </a:solidFill>
                  </a:tcPr>
                </a:tc>
              </a:tr>
              <a:tr h="238125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kosistem MPC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93aac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MPC Query Issue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93aac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Pending
06/10/2023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93aacf">
                        <a:alpha val="100000"/>
                      </a:srgbClr>
                    </a:solidFill>
                  </a:tcPr>
                </a:tc>
              </a:tr>
              <a:tr h="238125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Loan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[Paylater] Supports Automatic Limit Reversal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Pending
05/06/2024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a6a6a6">
                        <a:alpha val="100000"/>
                      </a:srgbClr>
                    </a:solidFill>
                  </a:tcPr>
                </a:tc>
              </a:tr>
              <a:tr h="238125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Loan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[Paylater] Enhance Error Handling when OCR KTP is Failed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Pending
31/05/2024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a6a6a6">
                        <a:alpha val="100000"/>
                      </a:srgbClr>
                    </a:solidFill>
                  </a:tcPr>
                </a:tc>
              </a:tr>
              <a:tr h="238125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Loan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[Paylater] Limit has been returned but the paid amount is still to be billed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Pending
12/02/2024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a6a6a6">
                        <a:alpha val="100000"/>
                      </a:srgbClr>
                    </a:solidFill>
                  </a:tcPr>
                </a:tc>
              </a:tr>
              <a:tr h="238125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Onboarding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7964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Biometric icon does not appear on new login page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7964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Pending
14/07/2024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79646">
                        <a:alpha val="100000"/>
                      </a:srgbClr>
                    </a:solidFill>
                  </a:tcPr>
                </a:tc>
              </a:tr>
              <a:tr h="238125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Onboarding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7964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User can click Validate Email multiple times: (Improve email verification process)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7964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Pending
19/09/2023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79646">
                        <a:alpha val="100000"/>
                      </a:srgbClr>
                    </a:solidFill>
                  </a:tcPr>
                </a:tc>
              </a:tr>
              <a:tr h="238125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Onboarding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7964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Forgot Password then Forgot PIN, but only the Forgot Password page is displayed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7964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Pending
13/09/2023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79646">
                        <a:alpha val="100000"/>
                      </a:srgbClr>
                    </a:solidFill>
                  </a:tcPr>
                </a:tc>
              </a:tr>
              <a:tr h="238125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Onboarding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7964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Blank screen after Allo app update from Play Store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7964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Pending
31/05/2024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79646">
                        <a:alpha val="100000"/>
                      </a:srgbClr>
                    </a:solidFill>
                  </a:tcPr>
                </a:tc>
              </a:tr>
              <a:tr h="238125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Onboarding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7964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[Onboarding] District picker does not appear when users attempt to edit inaccurate OCR results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7964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Pending
10/05/2024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79646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" descr=""/>
          <p:cNvGraphicFramePr>
            <a:graphicFrameLocks noGrp="1"/>
          </p:cNvGraphicFramePr>
          <p:nvPr/>
        </p:nvGraphicFramePr>
        <p:xfrm>
          <a:off x="6048375" y="952500"/>
          <a:ext cx="5715000" cy="2857500"/>
        </p:xfrm>
        <a:graphic>
          <a:graphicData uri="http://schemas.openxmlformats.org/drawingml/2006/table">
            <a:tbl>
              <a:tblPr firstRow="1" bandRow="1"/>
              <a:tblGrid>
                <a:gridCol w="1143000"/>
                <a:gridCol w="3524250"/>
                <a:gridCol w="1047750"/>
              </a:tblGrid>
              <a:tr h="238125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z="1000" spc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Problem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000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z="1000" spc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Summary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000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z="1000" spc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Status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0000">
                        <a:alpha val="100000"/>
                      </a:srgbClr>
                    </a:solidFill>
                  </a:tcPr>
                </a:tc>
              </a:tr>
              <a:tr h="238125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Onboarding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7964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Pengkinian Data form got 2 request at the same time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7964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Pending
23/04/2024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79646">
                        <a:alpha val="100000"/>
                      </a:srgbClr>
                    </a:solidFill>
                  </a:tcPr>
                </a:tc>
              </a:tr>
              <a:tr h="238125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Onboarding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7964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Force close application after pressing Forgot PIN feature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7964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Pending
08/04/2024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79646">
                        <a:alpha val="100000"/>
                      </a:srgbClr>
                    </a:solidFill>
                  </a:tcPr>
                </a:tc>
              </a:tr>
              <a:tr h="238125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Onboarding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7964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Update AAI Liveness SDK version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7964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Pending
25/03/2024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79646">
                        <a:alpha val="100000"/>
                      </a:srgbClr>
                    </a:solidFill>
                  </a:tcPr>
                </a:tc>
              </a:tr>
              <a:tr h="238125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Onboarding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7964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[Enhancement] Show error page when using non-KTP on Tencent IQA+OCR SDK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7964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Pending
29/02/2024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79646">
                        <a:alpha val="100000"/>
                      </a:srgbClr>
                    </a:solidFill>
                  </a:tcPr>
                </a:tc>
              </a:tr>
              <a:tr h="238125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Onboarding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7964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Forgot PIN in 3 different features resulting 3 different outputs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7964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Pending
10/02/2024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79646">
                        <a:alpha val="100000"/>
                      </a:srgbClr>
                    </a:solidFill>
                  </a:tcPr>
                </a:tc>
              </a:tr>
              <a:tr h="238125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Onboarding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7964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Received the RC ALLO00013 in the onboarding process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7964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Pending
11/10/2023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79646">
                        <a:alpha val="100000"/>
                      </a:srgbClr>
                    </a:solidFill>
                  </a:tcPr>
                </a:tc>
              </a:tr>
              <a:tr h="238125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Onboarding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7964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Received "Operation is abnormal" message when submitting upgrade form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7964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Pending
08/10/2023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79646">
                        <a:alpha val="100000"/>
                      </a:srgbClr>
                    </a:solidFill>
                  </a:tcPr>
                </a:tc>
              </a:tr>
              <a:tr h="238125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Online Payment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[E-Wallet] ShopeePay High Frequency Inquiry Failed 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Pending
19/04/2024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</a:tr>
              <a:tr h="238125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Online Payment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Mobile Prepaid Forgot PIN No Face Check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Pending
06/02/2024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</a:tr>
              <a:tr h="238125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Online Payment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[E-Wallet] Forgot PIN System Error - Gopay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Pending
06/02/2024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</a:tr>
              <a:tr h="238125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Transaction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[Quick Access] Unable to use Quick Access due token expire and wrong pop-up message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Pending
08/08/2024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c000">
                        <a:alpha val="100000"/>
                      </a:srgbClr>
                    </a:solidFill>
                  </a:tcPr>
                </a:tc>
              </a:tr>
              <a:tr h="238125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Transaction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Homepage Issue - Balance in homepage is not update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pc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Pending
20/06/2024]]></a:t>
                      </a:r>
                    </a:p>
                  </a:txBody>
                  <a:tcPr anchor="ctr" marL="0" marR="0" marT="0" marB="0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c000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29425"/>
          <a:chOff x="0" y="0"/>
          <a:chExt cx="12192000" cy="6829425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29425"/>
          </a:xfrm>
          <a:prstGeom prst="rect">
            <a:avLst/>
          </a:prstGeom>
          <a:noFill/>
        </p:spPr>
      </p:pic>
      <p:sp>
        <p:nvSpPr>
          <p:cNvPr id="2" name=""/>
          <p:cNvSpPr txBox="1"/>
          <p:nvPr/>
        </p:nvSpPr>
        <p:spPr>
          <a:xfrm>
            <a:off x="1143000" y="2857500"/>
            <a:ext cx="3810000" cy="952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z="6000" spc="0" u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Thankyou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33">
  <a:themeElements>
    <a:clrScheme name="Theme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33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3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5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2024-08-13T09:25:10Z</dcterms:created>
  <dcterms:modified xsi:type="dcterms:W3CDTF">2024-08-13T09:25:10Z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